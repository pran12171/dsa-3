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58" r:id="rId6"/>
    <p:sldId id="259" r:id="rId7"/>
    <p:sldId id="260" r:id="rId8"/>
    <p:sldId id="263" r:id="rId9"/>
    <p:sldId id="264" r:id="rId10"/>
    <p:sldId id="265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D1CA-8B0B-5BEA-FDBA-7D6335D70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8BB3A-1C6D-75FE-7759-D13F00835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46BA0-EBF3-60EC-1A75-428B4F40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373D6-F9E9-C02E-AEC4-923B14E4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F2527-FCF7-982F-AC8F-2CD9D050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35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679B-ABD6-7131-804C-E3F50796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1B18-5239-EA4B-60C8-4A293B63B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9E7FC-05AA-3E96-3203-90D9FD4A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ECC7D-5509-D5FB-CFED-D753FDDA4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43F6-70F2-838F-375F-E9115715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50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2F16-B71F-26AC-C25C-1AB4E892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E3DED-DD7F-0710-88C5-142DE3771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25C17-3AD0-C9A2-F6C3-E370AB19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01701-4AEC-77A9-9A48-933A4AA86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4499F-837B-E360-DD79-F1C57E0E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27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AAEA-99AA-B926-E077-E7C3C5C7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9565-0886-7CBC-266B-19CCCA5E8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ACD34-0DEB-5780-668F-8D00B38FB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47970-0CC1-4F1C-9117-946A2BFEC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56630-9293-69BF-8F03-74E897D3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1F7A8-0940-BFE9-FFF5-568CC94F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86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66D8-DE88-5F1A-6BCE-56AF9830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83537-18FD-4880-B5FE-5DCD53B94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65070-98A7-0E52-AD41-43DAFB16E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6A996-35EA-688D-F82D-9FE84CABC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7EFDE-175A-BD29-BB3B-DD103974E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0583C-F265-FD13-D5BB-5AD005E2D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9E7FC-A299-503F-1C8C-AE5DDCB0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4F0C0-3E9E-B5BA-E5D8-BBC45DEC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35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4310-6AE3-113B-1388-2D65C5E2F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EDCE1-1553-B475-0A1A-9F096367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83B8A-0685-7264-4578-769FA1CEC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BAE3A-EA7D-251F-6899-2CBF3C95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04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579F1-EFC2-5160-EF01-59CD59E6C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E2D64-30C3-2F74-7CD1-D2BC6FD2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B31C2-CBBB-0D3C-07A1-E8F81149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17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80E9-20B7-BA00-92D4-CA5848E7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14C02-CCC8-8414-D4C1-16EAF9D5B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CC5E6-E6B5-346C-0C2E-AF651485B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D0101-6375-9FDA-303B-A47402C8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E75D5-1992-EB45-6DA4-B36430F5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DDED1-A00A-297D-03AD-88BD8180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88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70DF1-1DC5-DE0E-CBE8-CCDF3AB8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2149B-4D0F-9AF8-F600-A6D3C04B8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959E7-301D-E7DE-0A22-4C3037D65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F73E4-93FF-579F-3F65-F59962A1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9BDB7-6448-79C5-584C-238ACA6BB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5962A-1236-78AA-C7F4-F0D17BA8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60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E119-E901-C06C-5D4A-EF40889E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3D98A-ECDF-E4F1-71C7-91E13B671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AFDF-C585-AB3C-EC56-EE0E85D6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FA5E3-E218-9644-46F6-838107C9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75EE3-48A9-FC7C-1F63-C0F742BB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36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B0F548-7C1F-19E1-81B0-E66B8083B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09B54-E671-BB23-E58F-2FED40BED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D3D02-9379-037A-A8A0-A6707A5DE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154DC-42F4-F2E9-9FB1-4841202A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FB01F-02F6-5983-A23B-74710AD3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9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1DA1D-AF04-3E19-A012-1AED6E35B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A83A9-3A40-012E-F99F-6AC45E832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2173F-41B8-EC55-9E15-BB7F37E44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38B1D-9E71-4EEA-BDBA-FE3805B8193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FE2CF-F665-2826-A981-BB6E6EA2B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03C39-F966-F932-2E10-0423380F4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F8660-391D-466D-A819-6CBAD7988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12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8" name="Picture 7" descr="Pipette adding DNA sample to a petri dish">
            <a:extLst>
              <a:ext uri="{FF2B5EF4-FFF2-40B4-BE49-F238E27FC236}">
                <a16:creationId xmlns:a16="http://schemas.microsoft.com/office/drawing/2014/main" id="{1D1479D5-34A9-5351-D624-0C208C71E0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001" r="-2" b="-2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0FD98C-35B2-51AF-0926-2100D1360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en-IN" sz="5000" b="1" dirty="0">
                <a:solidFill>
                  <a:schemeClr val="bg1">
                    <a:lumMod val="85000"/>
                  </a:schemeClr>
                </a:solidFill>
              </a:rPr>
              <a:t>Student Assignment Similarity Analyzer</a:t>
            </a:r>
            <a:endParaRPr lang="en-US" sz="50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92409-0E6F-BB06-6A26-72FB34C42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14853"/>
            <a:ext cx="9795637" cy="20570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2520030257-Praneeth Gadila</a:t>
            </a:r>
            <a:endParaRPr lang="en-US">
              <a:solidFill>
                <a:srgbClr val="FFFFFF"/>
              </a:solidFill>
            </a:endParaRPr>
          </a:p>
          <a:p>
            <a:r>
              <a:rPr lang="en-IN">
                <a:solidFill>
                  <a:srgbClr val="FFFFFF"/>
                </a:solidFill>
              </a:rPr>
              <a:t>2520030096 – Guru Kiran Matray</a:t>
            </a:r>
          </a:p>
          <a:p>
            <a:r>
              <a:rPr lang="en-IN">
                <a:solidFill>
                  <a:srgbClr val="FFFFFF"/>
                </a:solidFill>
              </a:rPr>
              <a:t>2520030275 – Kunal Shahane</a:t>
            </a:r>
          </a:p>
          <a:p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217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3B5C-779C-AF65-957F-E16B0066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Abstract &amp; Problem Statement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B9CAB-76F0-C6AD-2129-E6718533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ABSTRACT</a:t>
            </a:r>
            <a:endParaRPr lang="en-US" sz="1600" dirty="0"/>
          </a:p>
          <a:p>
            <a:pPr lvl="2"/>
            <a:r>
              <a:rPr lang="en-IN" sz="1400" dirty="0"/>
              <a:t>A Java-based system for detecting plagiarism and similarity in </a:t>
            </a:r>
            <a:r>
              <a:rPr lang="en-IN" sz="1400" b="1" dirty="0"/>
              <a:t>student TXT/PDF assignments</a:t>
            </a:r>
            <a:r>
              <a:rPr lang="en-IN" sz="1400" dirty="0"/>
              <a:t>. </a:t>
            </a:r>
          </a:p>
          <a:p>
            <a:pPr lvl="2"/>
            <a:r>
              <a:rPr lang="en-IN" sz="1400" dirty="0"/>
              <a:t>Automatically compares each new submission with </a:t>
            </a:r>
            <a:r>
              <a:rPr lang="en-IN" sz="1400" b="1" dirty="0"/>
              <a:t>all previous assignments</a:t>
            </a:r>
            <a:r>
              <a:rPr lang="en-IN" sz="1400" dirty="0"/>
              <a:t>. </a:t>
            </a:r>
          </a:p>
          <a:p>
            <a:pPr lvl="2"/>
            <a:r>
              <a:rPr lang="en-IN" sz="1400" dirty="0"/>
              <a:t>Uses </a:t>
            </a:r>
            <a:r>
              <a:rPr lang="en-IN" sz="1400" b="1" dirty="0"/>
              <a:t>String Algorithms and Dynamic Programming</a:t>
            </a:r>
            <a:r>
              <a:rPr lang="en-IN" sz="1400" dirty="0"/>
              <a:t> to detect exact and modified copied content. </a:t>
            </a:r>
          </a:p>
          <a:p>
            <a:pPr lvl="2"/>
            <a:r>
              <a:rPr lang="en-IN" sz="1400" dirty="0"/>
              <a:t>Generates similarity percentages and identifies the most similar submissions.</a:t>
            </a:r>
          </a:p>
          <a:p>
            <a:pPr marL="0" indent="0">
              <a:buNone/>
            </a:pP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600" b="1" dirty="0"/>
              <a:t>PROBLEM STATEMENT</a:t>
            </a:r>
            <a:endParaRPr lang="en-US" sz="1600" dirty="0"/>
          </a:p>
          <a:p>
            <a:pPr lvl="1"/>
            <a:r>
              <a:rPr lang="en-IN" sz="1400" dirty="0"/>
              <a:t>Manual comparison of multiple assignments is </a:t>
            </a:r>
            <a:r>
              <a:rPr lang="en-IN" sz="1400" b="1" dirty="0"/>
              <a:t>time-consuming and difficult to scale</a:t>
            </a:r>
            <a:r>
              <a:rPr lang="en-IN" sz="1400" dirty="0"/>
              <a:t>. </a:t>
            </a:r>
          </a:p>
          <a:p>
            <a:pPr lvl="1"/>
            <a:r>
              <a:rPr lang="en-IN" sz="1400" dirty="0"/>
              <a:t>Students may modify copied content through </a:t>
            </a:r>
            <a:r>
              <a:rPr lang="en-IN" sz="1400" b="1" dirty="0"/>
              <a:t>word changes, insertions, deletions, or transpositions</a:t>
            </a:r>
            <a:r>
              <a:rPr lang="en-IN" sz="1400" dirty="0"/>
              <a:t>. </a:t>
            </a:r>
          </a:p>
          <a:p>
            <a:pPr lvl="1"/>
            <a:r>
              <a:rPr lang="en-IN" sz="1400" dirty="0"/>
              <a:t>An automated system is needed to efficiently compare submissions and flag suspicious similarities. </a:t>
            </a:r>
          </a:p>
          <a:p>
            <a:pPr lvl="1"/>
            <a:r>
              <a:rPr lang="en-IN" sz="1400" dirty="0"/>
              <a:t>The system classifies assignments using a </a:t>
            </a:r>
            <a:r>
              <a:rPr lang="en-IN" sz="1400" b="1" dirty="0"/>
              <a:t>10% similarity threshold</a:t>
            </a:r>
            <a:r>
              <a:rPr lang="en-IN" sz="1400" dirty="0"/>
              <a:t>: </a:t>
            </a:r>
            <a:r>
              <a:rPr lang="en-IN" sz="1400" b="1" dirty="0"/>
              <a:t>≤10% Original, &gt;10% Copied</a:t>
            </a:r>
            <a:r>
              <a:rPr lang="en-IN" sz="1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69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0E848-D21D-C437-1258-C2E72445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Description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8750-E96F-4FBC-AFA7-80ACA124C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sz="1400" dirty="0"/>
              <a:t>Java-based </a:t>
            </a:r>
            <a:r>
              <a:rPr lang="en-IN" sz="1400" b="1" dirty="0"/>
              <a:t>console application</a:t>
            </a:r>
            <a:r>
              <a:rPr lang="en-IN" sz="1400" dirty="0"/>
              <a:t> for detecting assignment similarity and plagiarism. </a:t>
            </a:r>
          </a:p>
          <a:p>
            <a:pPr lvl="1"/>
            <a:r>
              <a:rPr lang="en-IN" sz="1400" dirty="0"/>
              <a:t>Accepts </a:t>
            </a:r>
            <a:r>
              <a:rPr lang="en-IN" sz="1400" b="1" dirty="0"/>
              <a:t>TXT and PDF</a:t>
            </a:r>
            <a:r>
              <a:rPr lang="en-IN" sz="1400" dirty="0"/>
              <a:t> assignment files. </a:t>
            </a:r>
          </a:p>
          <a:p>
            <a:pPr lvl="1"/>
            <a:r>
              <a:rPr lang="en-IN" sz="1400" dirty="0"/>
              <a:t>Extracts and preprocesses text from submitted documents. </a:t>
            </a:r>
          </a:p>
          <a:p>
            <a:pPr lvl="1"/>
            <a:r>
              <a:rPr lang="en-IN" sz="1400" dirty="0"/>
              <a:t>Uses </a:t>
            </a:r>
            <a:r>
              <a:rPr lang="en-IN" sz="1400" b="1" dirty="0"/>
              <a:t>TF-IDF and Cosine Similarity</a:t>
            </a:r>
            <a:r>
              <a:rPr lang="en-IN" sz="1400" dirty="0"/>
              <a:t> to calculate document similarity. </a:t>
            </a:r>
          </a:p>
          <a:p>
            <a:pPr lvl="1"/>
            <a:r>
              <a:rPr lang="en-IN" sz="1400" dirty="0"/>
              <a:t>Compares new assignments with previously submitted reference documents. </a:t>
            </a:r>
          </a:p>
          <a:p>
            <a:pPr lvl="1"/>
            <a:r>
              <a:rPr lang="en-IN" sz="1400" dirty="0"/>
              <a:t>Generates a </a:t>
            </a:r>
            <a:r>
              <a:rPr lang="en-IN" sz="1400" b="1" dirty="0"/>
              <a:t>similarity percentage</a:t>
            </a:r>
            <a:r>
              <a:rPr lang="en-IN" sz="1400" dirty="0"/>
              <a:t> for each comparison. </a:t>
            </a:r>
          </a:p>
          <a:p>
            <a:pPr lvl="1"/>
            <a:r>
              <a:rPr lang="en-IN" sz="1400" dirty="0"/>
              <a:t>Classifies assignments as </a:t>
            </a:r>
            <a:r>
              <a:rPr lang="en-IN" sz="1400" b="1" dirty="0"/>
              <a:t>Original or Copied</a:t>
            </a:r>
            <a:r>
              <a:rPr lang="en-IN" sz="1400" dirty="0"/>
              <a:t> using a predefined threshold. </a:t>
            </a:r>
          </a:p>
          <a:p>
            <a:pPr lvl="1"/>
            <a:r>
              <a:rPr lang="en-IN" sz="1400" dirty="0"/>
              <a:t>Demonstrates practical application of </a:t>
            </a:r>
            <a:r>
              <a:rPr lang="en-IN" sz="1400" b="1" dirty="0"/>
              <a:t>Data Structures &amp; Algorithms</a:t>
            </a:r>
            <a:r>
              <a:rPr lang="en-IN" sz="1400" dirty="0"/>
              <a:t>. </a:t>
            </a:r>
          </a:p>
          <a:p>
            <a:pPr lvl="1"/>
            <a:r>
              <a:rPr lang="en-IN" sz="1400" b="1" dirty="0"/>
              <a:t>Technologies:</a:t>
            </a:r>
            <a:r>
              <a:rPr lang="en-IN" sz="1400" dirty="0"/>
              <a:t> Java 17+, Apache </a:t>
            </a:r>
            <a:r>
              <a:rPr lang="en-IN" sz="1400" dirty="0" err="1"/>
              <a:t>PDFBox</a:t>
            </a:r>
            <a:r>
              <a:rPr lang="en-IN" sz="1400" dirty="0"/>
              <a:t>, TF-IDF, Cosine Similarity.</a:t>
            </a:r>
          </a:p>
          <a:p>
            <a:pPr lvl="1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0438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D41F-6289-64B3-EA1F-C2D3CC96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CO-Wise topics involved </a:t>
            </a:r>
            <a:endParaRPr lang="en-IN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9597675-E301-CCF7-F8FC-E4CF89EDD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62" y="18891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41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7727-3FA8-ADCF-89C6-CC87BE4F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Tools, Technologies &amp; Expected Outcome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7802C-C537-5761-A619-CF123A5BF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Tools &amp; Technologies</a:t>
            </a:r>
            <a:endParaRPr lang="en-US" sz="1600" dirty="0"/>
          </a:p>
          <a:p>
            <a:pPr lvl="1"/>
            <a:r>
              <a:rPr lang="en-IN" sz="1400" b="1" dirty="0"/>
              <a:t>Language:</a:t>
            </a:r>
            <a:r>
              <a:rPr lang="en-IN" sz="1400" dirty="0"/>
              <a:t> Java </a:t>
            </a:r>
          </a:p>
          <a:p>
            <a:pPr lvl="1"/>
            <a:r>
              <a:rPr lang="en-IN" sz="1400" b="1" dirty="0"/>
              <a:t>GUI:</a:t>
            </a:r>
            <a:r>
              <a:rPr lang="en-IN" sz="1400" dirty="0"/>
              <a:t> Java Swing </a:t>
            </a:r>
          </a:p>
          <a:p>
            <a:pPr lvl="1"/>
            <a:r>
              <a:rPr lang="en-IN" sz="1400" b="1" dirty="0"/>
              <a:t>IDE:</a:t>
            </a:r>
            <a:r>
              <a:rPr lang="en-IN" sz="1400" dirty="0"/>
              <a:t> Visual Studio Code </a:t>
            </a:r>
          </a:p>
          <a:p>
            <a:pPr lvl="1"/>
            <a:r>
              <a:rPr lang="en-IN" sz="1400" b="1" dirty="0"/>
              <a:t>File Formats:</a:t>
            </a:r>
            <a:r>
              <a:rPr lang="en-IN" sz="1400" dirty="0"/>
              <a:t> TXT &amp; PDF </a:t>
            </a:r>
          </a:p>
          <a:p>
            <a:pPr lvl="1"/>
            <a:r>
              <a:rPr lang="en-IN" sz="1400" b="1" dirty="0"/>
              <a:t>PDF Processing:</a:t>
            </a:r>
            <a:r>
              <a:rPr lang="en-IN" sz="1400" dirty="0"/>
              <a:t> Apache </a:t>
            </a:r>
            <a:r>
              <a:rPr lang="en-IN" sz="1400" dirty="0" err="1"/>
              <a:t>PDFBox</a:t>
            </a:r>
            <a:r>
              <a:rPr lang="en-IN" sz="1400" dirty="0"/>
              <a:t> </a:t>
            </a:r>
          </a:p>
          <a:p>
            <a:pPr lvl="1"/>
            <a:r>
              <a:rPr lang="en-IN" sz="1400" b="1" dirty="0"/>
              <a:t>String Algorithms:</a:t>
            </a:r>
            <a:r>
              <a:rPr lang="en-IN" sz="1400" dirty="0"/>
              <a:t> Naïve, KMP, Z-Function, Rabin-Karp, Aho-</a:t>
            </a:r>
            <a:r>
              <a:rPr lang="en-IN" sz="1400" dirty="0" err="1"/>
              <a:t>Corasick</a:t>
            </a:r>
            <a:r>
              <a:rPr lang="en-IN" sz="1400" dirty="0"/>
              <a:t> </a:t>
            </a:r>
          </a:p>
          <a:p>
            <a:pPr lvl="1"/>
            <a:r>
              <a:rPr lang="en-IN" sz="1400" b="1" dirty="0"/>
              <a:t>Suffix Algorithms:</a:t>
            </a:r>
            <a:r>
              <a:rPr lang="en-IN" sz="1400" dirty="0"/>
              <a:t> Suffix Array, LCP &amp; Kasai </a:t>
            </a:r>
          </a:p>
          <a:p>
            <a:pPr lvl="1"/>
            <a:r>
              <a:rPr lang="en-IN" sz="1400" b="1" dirty="0"/>
              <a:t>Dynamic Programming:</a:t>
            </a:r>
            <a:r>
              <a:rPr lang="en-IN" sz="1400" dirty="0"/>
              <a:t> </a:t>
            </a:r>
            <a:r>
              <a:rPr lang="en-IN" sz="1400" dirty="0" err="1"/>
              <a:t>Levenshtein</a:t>
            </a:r>
            <a:r>
              <a:rPr lang="en-IN" sz="1400" dirty="0"/>
              <a:t>, Wagner-Fischer, </a:t>
            </a:r>
            <a:r>
              <a:rPr lang="en-IN" sz="1400" dirty="0" err="1"/>
              <a:t>Damerau-Levenshtein</a:t>
            </a:r>
            <a:r>
              <a:rPr lang="en-IN" sz="1400" dirty="0"/>
              <a:t> </a:t>
            </a:r>
          </a:p>
          <a:p>
            <a:pPr lvl="1"/>
            <a:r>
              <a:rPr lang="en-IN" sz="1400" b="1" dirty="0"/>
              <a:t>Similarity:</a:t>
            </a:r>
            <a:r>
              <a:rPr lang="en-IN" sz="1400" dirty="0"/>
              <a:t> TF-IDF &amp; Cosine Similarity </a:t>
            </a:r>
          </a:p>
          <a:p>
            <a:pPr lvl="1"/>
            <a:r>
              <a:rPr lang="en-IN" sz="1400" b="1" dirty="0"/>
              <a:t>Data Structures:</a:t>
            </a:r>
            <a:r>
              <a:rPr lang="en-IN" sz="1400" dirty="0"/>
              <a:t> Trie, HashMap, Arrays,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36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495F-162A-DDDD-3A7A-A53B7A9D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EE1A-C140-5FD0-E049-7DB567C9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Tools, Technologies &amp; Expected 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DD36-9DD1-C24F-1927-C305E86BD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Expected Outcome</a:t>
            </a:r>
            <a:endParaRPr lang="en-US" sz="1600" dirty="0"/>
          </a:p>
          <a:p>
            <a:pPr lvl="1"/>
            <a:r>
              <a:rPr lang="en-IN" sz="1600" dirty="0"/>
              <a:t>Automatic comparison with </a:t>
            </a:r>
            <a:r>
              <a:rPr lang="en-IN" sz="1600" b="1" dirty="0"/>
              <a:t>all previous assignments</a:t>
            </a:r>
            <a:r>
              <a:rPr lang="en-IN" sz="1600" dirty="0"/>
              <a:t>. </a:t>
            </a:r>
          </a:p>
          <a:p>
            <a:pPr lvl="1"/>
            <a:r>
              <a:rPr lang="en-IN" sz="1600" dirty="0"/>
              <a:t>Accurate identification of </a:t>
            </a:r>
            <a:r>
              <a:rPr lang="en-IN" sz="1600" b="1" dirty="0"/>
              <a:t>exact and modified copied content</a:t>
            </a:r>
            <a:r>
              <a:rPr lang="en-IN" sz="1600" dirty="0"/>
              <a:t>. </a:t>
            </a:r>
          </a:p>
          <a:p>
            <a:pPr lvl="1"/>
            <a:r>
              <a:rPr lang="en-IN" sz="1600" dirty="0"/>
              <a:t>Pairwise similarity percentage for every previous submission. </a:t>
            </a:r>
          </a:p>
          <a:p>
            <a:pPr lvl="1"/>
            <a:r>
              <a:rPr lang="en-IN" sz="1600" dirty="0"/>
              <a:t>Identification of the </a:t>
            </a:r>
            <a:r>
              <a:rPr lang="en-IN" sz="1600" b="1" dirty="0"/>
              <a:t>highest-similarity assignment</a:t>
            </a:r>
            <a:r>
              <a:rPr lang="en-IN" sz="1600" dirty="0"/>
              <a:t>. </a:t>
            </a:r>
          </a:p>
          <a:p>
            <a:pPr lvl="1"/>
            <a:r>
              <a:rPr lang="en-IN" sz="1600" dirty="0"/>
              <a:t>Automatic </a:t>
            </a:r>
            <a:r>
              <a:rPr lang="en-IN" sz="1600" b="1" dirty="0"/>
              <a:t>Original/Copied classification</a:t>
            </a:r>
            <a:r>
              <a:rPr lang="en-IN" sz="1600" dirty="0"/>
              <a:t> using the 10% threshold. </a:t>
            </a:r>
          </a:p>
          <a:p>
            <a:pPr lvl="1"/>
            <a:r>
              <a:rPr lang="en-IN" sz="1600" dirty="0"/>
              <a:t>Reduced manual plagiarism checking and improved scalability for large numbers of submissions.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21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BDE12E-D0A0-FE1C-34F3-FD2A111E1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695" y="2021746"/>
            <a:ext cx="7309694" cy="40798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4E76FB-63B6-A345-6D7F-AEDDC2EDB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0311D-381D-DDE5-BBAA-04EE4EFE6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131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6CE-AB5A-CF55-FC40-866724C8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implementation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5A33FD-D172-1514-A379-D3555C7C6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085" y="1690688"/>
            <a:ext cx="7457829" cy="44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1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CABC-8C57-564D-9C4E-3D69D791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5C729-DAFD-3BE7-1A0C-F5E572B0A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implementation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622AB7-5049-46BE-9ACF-0F1935772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121" y="1690688"/>
            <a:ext cx="84697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50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E71E-C404-1358-2F39-FDDA79D5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0AB167-7330-67E3-F916-19A923357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513" y="1522580"/>
            <a:ext cx="8146973" cy="508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8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00FFD-38B4-A229-4E7D-7CAC3EFE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Geotag images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AEC5F4-BA8E-D486-B9CB-1E40B69EF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166" y="2987968"/>
            <a:ext cx="4381668" cy="3286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64AA2A-E6D6-6A59-1734-081E1F724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68" y="1690688"/>
            <a:ext cx="2735515" cy="2051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CB62B3-28F1-2175-FCB3-1328D5864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533" y="1690688"/>
            <a:ext cx="2735515" cy="205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0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370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Student Assignment Similarity Analyzer</vt:lpstr>
      <vt:lpstr>Abstract &amp; Problem Statement</vt:lpstr>
      <vt:lpstr>Description</vt:lpstr>
      <vt:lpstr>CO-Wise topics involved </vt:lpstr>
      <vt:lpstr>Tools, Technologies &amp; Expected Outcome</vt:lpstr>
      <vt:lpstr>Tools, Technologies &amp; Expected Outcome</vt:lpstr>
      <vt:lpstr>Workflow</vt:lpstr>
      <vt:lpstr>Code implementation</vt:lpstr>
      <vt:lpstr>Code implementation</vt:lpstr>
      <vt:lpstr>Output</vt:lpstr>
      <vt:lpstr>Geotag images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 kiran</dc:creator>
  <cp:lastModifiedBy>praneethgadila2007@outlook.com</cp:lastModifiedBy>
  <cp:revision>7</cp:revision>
  <dcterms:created xsi:type="dcterms:W3CDTF">2026-08-20T08:18:26Z</dcterms:created>
  <dcterms:modified xsi:type="dcterms:W3CDTF">2026-10-11T05:08:03Z</dcterms:modified>
</cp:coreProperties>
</file>